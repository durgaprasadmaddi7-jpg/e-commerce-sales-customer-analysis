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406" r:id="rId3"/>
    <p:sldId id="257" r:id="rId4"/>
    <p:sldId id="258" r:id="rId5"/>
    <p:sldId id="404" r:id="rId6"/>
    <p:sldId id="433" r:id="rId7"/>
    <p:sldId id="405" r:id="rId8"/>
    <p:sldId id="407" r:id="rId9"/>
    <p:sldId id="417" r:id="rId10"/>
    <p:sldId id="424" r:id="rId11"/>
    <p:sldId id="425" r:id="rId12"/>
    <p:sldId id="430" r:id="rId13"/>
    <p:sldId id="434" r:id="rId14"/>
    <p:sldId id="416" r:id="rId15"/>
    <p:sldId id="42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7F382F-29AD-4B23-9D12-92C466D903A6}" v="1" dt="2026-06-29T11:28:39.8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394" autoAdjust="0"/>
  </p:normalViewPr>
  <p:slideViewPr>
    <p:cSldViewPr snapToGrid="0">
      <p:cViewPr varScale="1">
        <p:scale>
          <a:sx n="78" d="100"/>
          <a:sy n="78" d="100"/>
        </p:scale>
        <p:origin x="85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rga Prasad Maddi" userId="42bcf83fe35ef18d" providerId="LiveId" clId="{A611F1A3-19E6-42B7-94E3-AD34A7C63CFE}"/>
    <pc:docChg chg="modSld">
      <pc:chgData name="Durga Prasad Maddi" userId="42bcf83fe35ef18d" providerId="LiveId" clId="{A611F1A3-19E6-42B7-94E3-AD34A7C63CFE}" dt="2026-06-29T11:40:06.884" v="48" actId="20577"/>
      <pc:docMkLst>
        <pc:docMk/>
      </pc:docMkLst>
      <pc:sldChg chg="modSp mod">
        <pc:chgData name="Durga Prasad Maddi" userId="42bcf83fe35ef18d" providerId="LiveId" clId="{A611F1A3-19E6-42B7-94E3-AD34A7C63CFE}" dt="2026-06-29T11:40:06.884" v="48" actId="20577"/>
        <pc:sldMkLst>
          <pc:docMk/>
          <pc:sldMk cId="3551523341" sldId="256"/>
        </pc:sldMkLst>
        <pc:spChg chg="mod">
          <ac:chgData name="Durga Prasad Maddi" userId="42bcf83fe35ef18d" providerId="LiveId" clId="{A611F1A3-19E6-42B7-94E3-AD34A7C63CFE}" dt="2026-06-29T11:40:06.884" v="48" actId="20577"/>
          <ac:spMkLst>
            <pc:docMk/>
            <pc:sldMk cId="3551523341" sldId="256"/>
            <ac:spMk id="10" creationId="{D7BD4F44-69F8-4729-AE3C-FA82A1A202DE}"/>
          </ac:spMkLst>
        </pc:spChg>
        <pc:spChg chg="mod">
          <ac:chgData name="Durga Prasad Maddi" userId="42bcf83fe35ef18d" providerId="LiveId" clId="{A611F1A3-19E6-42B7-94E3-AD34A7C63CFE}" dt="2026-06-29T11:22:01.557" v="13" actId="20577"/>
          <ac:spMkLst>
            <pc:docMk/>
            <pc:sldMk cId="3551523341" sldId="256"/>
            <ac:spMk id="11" creationId="{F41C888E-0CC2-4B92-8AF9-F5030E53038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6CDECA-B0E4-4A79-9C18-190139A2B7E4}" type="datetimeFigureOut">
              <a:rPr lang="en-IN" smtClean="0"/>
              <a:pPr/>
              <a:t>29-06-2026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CA4F9-BF41-4E8E-9DD2-914BF099ACB8}" type="slidenum">
              <a:rPr lang="en-IN" smtClean="0"/>
              <a:pPr/>
              <a:t>‹#›</a:t>
            </a:fld>
            <a:endParaRPr lang="en-IN"/>
          </a:p>
        </p:txBody>
      </p:sp>
    </p:spTree>
    <p:extLst>
      <p:ext uri="{BB962C8B-B14F-4D97-AF65-F5344CB8AC3E}">
        <p14:creationId xmlns:p14="http://schemas.microsoft.com/office/powerpoint/2010/main" val="3802402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449452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2942230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3215707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2028768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599659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254555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454347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1041545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421982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807565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93176-9B95-4971-8F50-166B02228DD3}" type="datetimeFigureOut">
              <a:rPr lang="en-IN" smtClean="0"/>
              <a:pPr/>
              <a:t>29-06-2026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729B0CD-5273-483B-9F76-2963FAB3E814}" type="slidenum">
              <a:rPr lang="en-IN" smtClean="0"/>
              <a:pPr/>
              <a:t>‹#›</a:t>
            </a:fld>
            <a:endParaRPr lang="en-IN"/>
          </a:p>
        </p:txBody>
      </p:sp>
    </p:spTree>
    <p:extLst>
      <p:ext uri="{BB962C8B-B14F-4D97-AF65-F5344CB8AC3E}">
        <p14:creationId xmlns:p14="http://schemas.microsoft.com/office/powerpoint/2010/main" val="2840754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493176-9B95-4971-8F50-166B02228DD3}" type="datetimeFigureOut">
              <a:rPr lang="en-IN" smtClean="0"/>
              <a:pPr/>
              <a:t>29-06-2026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9B0CD-5273-483B-9F76-2963FAB3E814}" type="slidenum">
              <a:rPr lang="en-IN" smtClean="0"/>
              <a:pPr/>
              <a:t>‹#›</a:t>
            </a:fld>
            <a:endParaRPr lang="en-IN"/>
          </a:p>
        </p:txBody>
      </p:sp>
    </p:spTree>
    <p:extLst>
      <p:ext uri="{BB962C8B-B14F-4D97-AF65-F5344CB8AC3E}">
        <p14:creationId xmlns:p14="http://schemas.microsoft.com/office/powerpoint/2010/main" val="203298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781F626B-BF00-464D-8C49-8B42BDFF012D}"/>
              </a:ext>
            </a:extLst>
          </p:cNvPr>
          <p:cNvSpPr txBox="1">
            <a:spLocks/>
          </p:cNvSpPr>
          <p:nvPr/>
        </p:nvSpPr>
        <p:spPr>
          <a:xfrm>
            <a:off x="2249658" y="1323384"/>
            <a:ext cx="8102009" cy="531035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194728"/>
            <a:endParaRPr lang="en-IN" sz="2200" dirty="0">
              <a:latin typeface="Times New Roman" panose="02020603050405020304" pitchFamily="18" charset="0"/>
              <a:cs typeface="Times New Roman" panose="02020603050405020304" pitchFamily="18" charset="0"/>
            </a:endParaRPr>
          </a:p>
          <a:p>
            <a:pPr marL="194728"/>
            <a:r>
              <a:rPr lang="en-IN" sz="2200" dirty="0">
                <a:latin typeface="Times New Roman" panose="02020603050405020304" pitchFamily="18" charset="0"/>
                <a:cs typeface="Times New Roman" panose="02020603050405020304" pitchFamily="18" charset="0"/>
              </a:rPr>
              <a:t>A MINI PROJECT ON</a:t>
            </a:r>
          </a:p>
          <a:p>
            <a:pPr marL="194728"/>
            <a:endParaRPr lang="en-IN" sz="2000" b="1" dirty="0">
              <a:solidFill>
                <a:srgbClr val="000000"/>
              </a:solidFill>
              <a:latin typeface="Times New Roman" panose="02020603050405020304" pitchFamily="18" charset="0"/>
              <a:cs typeface="Times New Roman" panose="02020603050405020304" pitchFamily="18" charset="0"/>
            </a:endParaRPr>
          </a:p>
          <a:p>
            <a:pPr marL="194728">
              <a:lnSpc>
                <a:spcPct val="150000"/>
              </a:lnSpc>
            </a:pPr>
            <a:endParaRPr lang="en-IN" sz="2200" b="1" dirty="0">
              <a:solidFill>
                <a:srgbClr val="000000"/>
              </a:solidFill>
              <a:latin typeface="Times New Roman" panose="02020603050405020304" pitchFamily="18" charset="0"/>
              <a:cs typeface="Times New Roman" panose="02020603050405020304" pitchFamily="18" charset="0"/>
            </a:endParaRPr>
          </a:p>
          <a:p>
            <a:pPr marL="194728">
              <a:lnSpc>
                <a:spcPct val="100000"/>
              </a:lnSpc>
            </a:pPr>
            <a:endParaRPr lang="en-IN" b="1" dirty="0">
              <a:solidFill>
                <a:srgbClr val="000000"/>
              </a:solidFill>
              <a:latin typeface="Times New Roman" panose="02020603050405020304" pitchFamily="18" charset="0"/>
              <a:cs typeface="Times New Roman" panose="02020603050405020304" pitchFamily="18" charset="0"/>
            </a:endParaRPr>
          </a:p>
        </p:txBody>
      </p:sp>
      <p:sp>
        <p:nvSpPr>
          <p:cNvPr id="5" name="Slide Number Placeholder 3">
            <a:extLst>
              <a:ext uri="{FF2B5EF4-FFF2-40B4-BE49-F238E27FC236}">
                <a16:creationId xmlns:a16="http://schemas.microsoft.com/office/drawing/2014/main" id="{611C82AD-7A81-4E1F-83F5-A6E316105B36}"/>
              </a:ext>
            </a:extLst>
          </p:cNvPr>
          <p:cNvSpPr>
            <a:spLocks noGrp="1"/>
          </p:cNvSpPr>
          <p:nvPr>
            <p:ph type="sldNum" sz="quarter" idx="12"/>
          </p:nvPr>
        </p:nvSpPr>
        <p:spPr>
          <a:xfrm>
            <a:off x="11296611" y="6217623"/>
            <a:ext cx="731600" cy="524800"/>
          </a:xfrm>
        </p:spPr>
        <p:txBody>
          <a:bodyPr/>
          <a:lstStyle/>
          <a:p>
            <a:pPr defTabSz="1219170"/>
            <a:fld id="{00000000-1234-1234-1234-123412341234}" type="slidenum">
              <a:rPr lang="en">
                <a:solidFill>
                  <a:prstClr val="black">
                    <a:tint val="75000"/>
                  </a:prstClr>
                </a:solidFill>
                <a:latin typeface="Calibri" panose="020F0502020204030204"/>
              </a:rPr>
              <a:pPr defTabSz="1219170"/>
              <a:t>1</a:t>
            </a:fld>
            <a:endParaRPr lang="en" dirty="0">
              <a:solidFill>
                <a:prstClr val="black">
                  <a:tint val="75000"/>
                </a:prstClr>
              </a:solidFill>
              <a:latin typeface="Calibri" panose="020F0502020204030204"/>
            </a:endParaRPr>
          </a:p>
        </p:txBody>
      </p:sp>
      <p:sp>
        <p:nvSpPr>
          <p:cNvPr id="6" name="Rectangle 12">
            <a:extLst>
              <a:ext uri="{FF2B5EF4-FFF2-40B4-BE49-F238E27FC236}">
                <a16:creationId xmlns:a16="http://schemas.microsoft.com/office/drawing/2014/main" id="{C1D6794B-6E68-473B-A6BC-625297403A71}"/>
              </a:ext>
            </a:extLst>
          </p:cNvPr>
          <p:cNvSpPr>
            <a:spLocks noChangeArrowheads="1"/>
          </p:cNvSpPr>
          <p:nvPr/>
        </p:nvSpPr>
        <p:spPr bwMode="auto">
          <a:xfrm>
            <a:off x="1524001" y="58582"/>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pPr defTabSz="1219170"/>
            <a:endParaRPr lang="en-IN" sz="2400" dirty="0">
              <a:solidFill>
                <a:prstClr val="black"/>
              </a:solidFill>
              <a:latin typeface="Calibri" panose="020F0502020204030204"/>
            </a:endParaRPr>
          </a:p>
        </p:txBody>
      </p:sp>
      <p:sp>
        <p:nvSpPr>
          <p:cNvPr id="8" name="Rectangle 13">
            <a:extLst>
              <a:ext uri="{FF2B5EF4-FFF2-40B4-BE49-F238E27FC236}">
                <a16:creationId xmlns:a16="http://schemas.microsoft.com/office/drawing/2014/main" id="{74DA80E5-C61A-4C90-8BE2-FFF6579AE73A}"/>
              </a:ext>
            </a:extLst>
          </p:cNvPr>
          <p:cNvSpPr>
            <a:spLocks noChangeArrowheads="1"/>
          </p:cNvSpPr>
          <p:nvPr/>
        </p:nvSpPr>
        <p:spPr bwMode="auto">
          <a:xfrm>
            <a:off x="2487168" y="590460"/>
            <a:ext cx="9213219" cy="601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169280" rIns="23276" bIns="0" numCol="1" anchor="ctr" anchorCtr="0" compatLnSpc="1">
            <a:prstTxWarp prst="textNoShape">
              <a:avLst/>
            </a:prstTxWarp>
            <a:spAutoFit/>
          </a:bodyPr>
          <a:lstStyle/>
          <a:p>
            <a:pPr algn="ctr" defTabSz="1219170" eaLnBrk="0" fontAlgn="base" hangingPunct="0">
              <a:spcBef>
                <a:spcPct val="0"/>
              </a:spcBef>
              <a:spcAft>
                <a:spcPct val="0"/>
              </a:spcAft>
            </a:pPr>
            <a:r>
              <a:rPr lang="en-US" altLang="en-US" sz="2800" b="1" dirty="0">
                <a:solidFill>
                  <a:prstClr val="black"/>
                </a:solidFill>
                <a:latin typeface="Times New Roman" panose="02020603050405020304" pitchFamily="18" charset="0"/>
                <a:cs typeface="Times New Roman" panose="02020603050405020304" pitchFamily="18" charset="0"/>
              </a:rPr>
              <a:t>TKR COLLEGE OF ENGINEERING &amp; TECHNOLOGY</a:t>
            </a:r>
            <a:endParaRPr lang="en-US" altLang="en-US" sz="1600" b="1" u="sng" dirty="0">
              <a:solidFill>
                <a:prstClr val="black"/>
              </a:solidFill>
              <a:latin typeface="Calibri" panose="020F0502020204030204" pitchFamily="34" charset="0"/>
              <a:cs typeface="Times New Roman" panose="02020603050405020304" pitchFamily="18" charset="0"/>
            </a:endParaRPr>
          </a:p>
        </p:txBody>
      </p:sp>
      <p:sp>
        <p:nvSpPr>
          <p:cNvPr id="9" name="Text Placeholder 2">
            <a:extLst>
              <a:ext uri="{FF2B5EF4-FFF2-40B4-BE49-F238E27FC236}">
                <a16:creationId xmlns:a16="http://schemas.microsoft.com/office/drawing/2014/main" id="{E7AB7CA7-0C1D-418A-A672-C1063AC1972F}"/>
              </a:ext>
            </a:extLst>
          </p:cNvPr>
          <p:cNvSpPr txBox="1">
            <a:spLocks/>
          </p:cNvSpPr>
          <p:nvPr/>
        </p:nvSpPr>
        <p:spPr>
          <a:xfrm>
            <a:off x="1840333" y="2691599"/>
            <a:ext cx="8102009" cy="1607239"/>
          </a:xfrm>
          <a:prstGeom prst="rect">
            <a:avLst/>
          </a:prstGeom>
        </p:spPr>
        <p:txBody>
          <a:bodyPr spcFirstLastPara="1" vert="horz" wrap="square" lIns="91425" tIns="91425" rIns="91425" bIns="91425" rtlCol="0" anchor="t" anchorCtr="0">
            <a:noAutofit/>
          </a:bodyPr>
          <a:lstStyle>
            <a:lvl1pPr marL="609585" lvl="0" indent="-414856" algn="l" defTabSz="914377" rtl="0" eaLnBrk="1" latinLnBrk="0" hangingPunct="1">
              <a:lnSpc>
                <a:spcPct val="90000"/>
              </a:lnSpc>
              <a:spcBef>
                <a:spcPts val="0"/>
              </a:spcBef>
              <a:spcAft>
                <a:spcPts val="0"/>
              </a:spcAft>
              <a:buSzPts val="1300"/>
              <a:buFont typeface="Arial" panose="020B0604020202020204" pitchFamily="34" charset="0"/>
              <a:buChar char="●"/>
              <a:defRPr sz="2800" kern="1200">
                <a:solidFill>
                  <a:schemeClr val="tx1"/>
                </a:solidFill>
                <a:latin typeface="+mn-lt"/>
                <a:ea typeface="+mn-ea"/>
                <a:cs typeface="+mn-cs"/>
              </a:defRPr>
            </a:lvl1pPr>
            <a:lvl2pPr marL="1219170" lvl="1" indent="-397923" algn="l" defTabSz="914377" rtl="0" eaLnBrk="1" latinLnBrk="0" hangingPunct="1">
              <a:lnSpc>
                <a:spcPct val="90000"/>
              </a:lnSpc>
              <a:spcBef>
                <a:spcPts val="2133"/>
              </a:spcBef>
              <a:spcAft>
                <a:spcPts val="0"/>
              </a:spcAft>
              <a:buSzPts val="1100"/>
              <a:buFont typeface="Arial" panose="020B0604020202020204" pitchFamily="34" charset="0"/>
              <a:buChar char="○"/>
              <a:defRPr sz="2400" kern="1200">
                <a:solidFill>
                  <a:schemeClr val="tx1"/>
                </a:solidFill>
                <a:latin typeface="+mn-lt"/>
                <a:ea typeface="+mn-ea"/>
                <a:cs typeface="+mn-cs"/>
              </a:defRPr>
            </a:lvl2pPr>
            <a:lvl3pPr marL="1828754" lvl="2" indent="-397923" algn="l" defTabSz="914377" rtl="0" eaLnBrk="1" latinLnBrk="0" hangingPunct="1">
              <a:lnSpc>
                <a:spcPct val="90000"/>
              </a:lnSpc>
              <a:spcBef>
                <a:spcPts val="2133"/>
              </a:spcBef>
              <a:spcAft>
                <a:spcPts val="0"/>
              </a:spcAft>
              <a:buSzPts val="1100"/>
              <a:buFont typeface="Arial" panose="020B0604020202020204" pitchFamily="34" charset="0"/>
              <a:buChar char="■"/>
              <a:defRPr sz="2000" kern="1200">
                <a:solidFill>
                  <a:schemeClr val="tx1"/>
                </a:solidFill>
                <a:latin typeface="+mn-lt"/>
                <a:ea typeface="+mn-ea"/>
                <a:cs typeface="+mn-cs"/>
              </a:defRPr>
            </a:lvl3pPr>
            <a:lvl4pPr marL="2438339" lvl="3"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4pPr>
            <a:lvl5pPr marL="3047924" lvl="4"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5pPr>
            <a:lvl6pPr marL="3657509" lvl="5"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6pPr>
            <a:lvl7pPr marL="4267093" lvl="6"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7pPr>
            <a:lvl8pPr marL="4876678" lvl="7" indent="-397923" algn="l" defTabSz="914377" rtl="0" eaLnBrk="1" latinLnBrk="0" hangingPunct="1">
              <a:lnSpc>
                <a:spcPct val="90000"/>
              </a:lnSpc>
              <a:spcBef>
                <a:spcPts val="2133"/>
              </a:spcBef>
              <a:spcAft>
                <a:spcPts val="0"/>
              </a:spcAft>
              <a:buSzPts val="1100"/>
              <a:buFont typeface="Arial" panose="020B0604020202020204" pitchFamily="34" charset="0"/>
              <a:buChar char="○"/>
              <a:defRPr sz="1800" kern="1200">
                <a:solidFill>
                  <a:schemeClr val="tx1"/>
                </a:solidFill>
                <a:latin typeface="+mn-lt"/>
                <a:ea typeface="+mn-ea"/>
                <a:cs typeface="+mn-cs"/>
              </a:defRPr>
            </a:lvl8pPr>
            <a:lvl9pPr marL="5486263" lvl="8" indent="-397923" algn="l" defTabSz="914377" rtl="0" eaLnBrk="1" latinLnBrk="0" hangingPunct="1">
              <a:lnSpc>
                <a:spcPct val="90000"/>
              </a:lnSpc>
              <a:spcBef>
                <a:spcPts val="2133"/>
              </a:spcBef>
              <a:spcAft>
                <a:spcPts val="2133"/>
              </a:spcAft>
              <a:buSzPts val="1100"/>
              <a:buFont typeface="Arial" panose="020B0604020202020204" pitchFamily="34" charset="0"/>
              <a:buChar char="■"/>
              <a:defRPr sz="1800" kern="1200">
                <a:solidFill>
                  <a:schemeClr val="tx1"/>
                </a:solidFill>
                <a:latin typeface="+mn-lt"/>
                <a:ea typeface="+mn-ea"/>
                <a:cs typeface="+mn-cs"/>
              </a:defRPr>
            </a:lvl9pPr>
          </a:lstStyle>
          <a:p>
            <a:pPr marL="194728" indent="0" algn="ctr">
              <a:buNone/>
            </a:pPr>
            <a:endParaRPr lang="en" sz="2667" b="1" dirty="0">
              <a:solidFill>
                <a:srgbClr val="000000"/>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D7BD4F44-69F8-4729-AE3C-FA82A1A202DE}"/>
              </a:ext>
            </a:extLst>
          </p:cNvPr>
          <p:cNvSpPr/>
          <p:nvPr/>
        </p:nvSpPr>
        <p:spPr>
          <a:xfrm>
            <a:off x="2026398" y="2975265"/>
            <a:ext cx="7690808" cy="3108543"/>
          </a:xfrm>
          <a:prstGeom prst="rect">
            <a:avLst/>
          </a:prstGeom>
        </p:spPr>
        <p:txBody>
          <a:bodyPr wrap="square">
            <a:spAutoFit/>
          </a:bodyPr>
          <a:lstStyle/>
          <a:p>
            <a:pPr algn="ctr"/>
            <a:endParaRPr lang="en-US" sz="2000" dirty="0">
              <a:latin typeface="Times New Roman" pitchFamily="18" charset="0"/>
              <a:cs typeface="Times New Roman" pitchFamily="18" charset="0"/>
            </a:endParaRPr>
          </a:p>
          <a:p>
            <a:pPr algn="ctr"/>
            <a:r>
              <a:rPr lang="en-US" sz="2000" dirty="0">
                <a:latin typeface="Times New Roman" pitchFamily="18" charset="0"/>
                <a:cs typeface="Times New Roman" pitchFamily="18" charset="0"/>
              </a:rPr>
              <a:t>UNDER THE GUIDANCE OF</a:t>
            </a:r>
          </a:p>
          <a:p>
            <a:pPr algn="ctr"/>
            <a:r>
              <a:rPr lang="en-US" sz="2000" dirty="0">
                <a:latin typeface="Times New Roman" pitchFamily="18" charset="0"/>
                <a:cs typeface="Times New Roman" pitchFamily="18" charset="0"/>
              </a:rPr>
              <a:t> </a:t>
            </a:r>
            <a:endParaRPr lang="en-US" sz="2000" b="1"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Prof.. </a:t>
            </a:r>
            <a:r>
              <a:rPr lang="en-IN" b="1" dirty="0">
                <a:latin typeface="Times New Roman" panose="02020603050405020304" pitchFamily="18" charset="0"/>
                <a:cs typeface="Times New Roman" panose="02020603050405020304" pitchFamily="18" charset="0"/>
              </a:rPr>
              <a:t>Tejashwini</a:t>
            </a:r>
            <a:endParaRPr lang="en-US" sz="2000" b="1"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Class </a:t>
            </a:r>
            <a:r>
              <a:rPr lang="en-US" sz="2000" b="1" dirty="0" err="1">
                <a:latin typeface="Times New Roman" pitchFamily="18" charset="0"/>
                <a:cs typeface="Times New Roman" pitchFamily="18" charset="0"/>
              </a:rPr>
              <a:t>Incharge</a:t>
            </a:r>
            <a:r>
              <a:rPr lang="en-US" sz="2000" b="1" dirty="0">
                <a:latin typeface="Times New Roman" pitchFamily="18" charset="0"/>
                <a:cs typeface="Times New Roman" pitchFamily="18" charset="0"/>
              </a:rPr>
              <a:t>, CSD-B </a:t>
            </a:r>
          </a:p>
          <a:p>
            <a:pPr algn="ctr"/>
            <a:endParaRPr lang="en-US" sz="2000" dirty="0">
              <a:latin typeface="Times New Roman" pitchFamily="18" charset="0"/>
              <a:cs typeface="Times New Roman" pitchFamily="18" charset="0"/>
            </a:endParaRPr>
          </a:p>
          <a:p>
            <a:pPr algn="ctr"/>
            <a:r>
              <a:rPr lang="en-US" sz="2000" dirty="0">
                <a:latin typeface="Times New Roman" pitchFamily="18" charset="0"/>
                <a:cs typeface="Times New Roman" pitchFamily="18" charset="0"/>
              </a:rPr>
              <a:t>BY</a:t>
            </a:r>
          </a:p>
          <a:p>
            <a:pPr algn="ctr"/>
            <a:endParaRPr lang="en-US" sz="2000" b="1" dirty="0">
              <a:latin typeface="Times New Roman" pitchFamily="18" charset="0"/>
              <a:cs typeface="Times New Roman" pitchFamily="18" charset="0"/>
            </a:endParaRPr>
          </a:p>
          <a:p>
            <a:r>
              <a:rPr lang="en-IN" sz="1800" b="1" i="0" u="none" strike="noStrike" dirty="0">
                <a:solidFill>
                  <a:srgbClr val="000000"/>
                </a:solidFill>
                <a:effectLst/>
                <a:latin typeface="Calibri" panose="020F0502020204030204" pitchFamily="34" charset="0"/>
              </a:rPr>
              <a:t>	</a:t>
            </a:r>
            <a:r>
              <a:rPr lang="en-IN" b="1" dirty="0">
                <a:solidFill>
                  <a:srgbClr val="000000"/>
                </a:solidFill>
                <a:latin typeface="Calibri" panose="020F0502020204030204" pitchFamily="34" charset="0"/>
              </a:rPr>
              <a:t>       </a:t>
            </a:r>
            <a:r>
              <a:rPr lang="en-IN" b="1" dirty="0">
                <a:solidFill>
                  <a:srgbClr val="000000"/>
                </a:solidFill>
                <a:latin typeface="Times New Roman" panose="02020603050405020304" pitchFamily="18" charset="0"/>
                <a:cs typeface="Times New Roman" panose="02020603050405020304" pitchFamily="18" charset="0"/>
              </a:rPr>
              <a:t>MADDI DURGA PRASAD</a:t>
            </a:r>
            <a:r>
              <a:rPr lang="en-IN" sz="1800" b="1" i="0" u="none" strike="noStrike" dirty="0">
                <a:solidFill>
                  <a:srgbClr val="000000"/>
                </a:solidFill>
                <a:effectLst/>
                <a:latin typeface="Times New Roman" panose="02020603050405020304" pitchFamily="18" charset="0"/>
                <a:cs typeface="Times New Roman" panose="02020603050405020304" pitchFamily="18" charset="0"/>
              </a:rPr>
              <a:t>                       </a:t>
            </a:r>
            <a:r>
              <a:rPr lang="en-IN" b="1" dirty="0">
                <a:solidFill>
                  <a:srgbClr val="000000"/>
                </a:solidFill>
                <a:latin typeface="Times New Roman" panose="02020603050405020304" pitchFamily="18" charset="0"/>
                <a:cs typeface="Times New Roman" panose="02020603050405020304" pitchFamily="18" charset="0"/>
              </a:rPr>
              <a:t>(25K95A6709</a:t>
            </a:r>
            <a:r>
              <a:rPr lang="en-IN" sz="1800" b="1" i="0" u="none" strike="noStrike" dirty="0">
                <a:solidFill>
                  <a:srgbClr val="000000"/>
                </a:solidFill>
                <a:effectLst/>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 </a:t>
            </a:r>
          </a:p>
          <a:p>
            <a:r>
              <a:rPr lang="en-IN" sz="1800" b="1" i="0" u="none" strike="noStrike" dirty="0">
                <a:solidFill>
                  <a:srgbClr val="000000"/>
                </a:solidFill>
                <a:effectLst/>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itchFamily="18" charset="0"/>
            </a:endParaRPr>
          </a:p>
        </p:txBody>
      </p:sp>
      <p:sp>
        <p:nvSpPr>
          <p:cNvPr id="11" name="Rectangle 2">
            <a:extLst>
              <a:ext uri="{FF2B5EF4-FFF2-40B4-BE49-F238E27FC236}">
                <a16:creationId xmlns:a16="http://schemas.microsoft.com/office/drawing/2014/main" id="{F41C888E-0CC2-4B92-8AF9-F5030E530387}"/>
              </a:ext>
            </a:extLst>
          </p:cNvPr>
          <p:cNvSpPr txBox="1">
            <a:spLocks noChangeArrowheads="1"/>
          </p:cNvSpPr>
          <p:nvPr/>
        </p:nvSpPr>
        <p:spPr>
          <a:xfrm>
            <a:off x="2072803" y="1304605"/>
            <a:ext cx="7867663" cy="1841717"/>
          </a:xfrm>
          <a:prstGeom prst="rect">
            <a:avLst/>
          </a:prstGeom>
        </p:spPr>
        <p:txBody>
          <a:bodyPr spcFirstLastPara="1" vert="horz" wrap="square" lIns="91425" tIns="91425" rIns="91425" bIns="91425" rtlCol="0" anchor="t" anchorCtr="0">
            <a:normAutofit fontScale="25000" lnSpcReduction="20000"/>
          </a:bodyPr>
          <a:lstStyle>
            <a:lvl1pPr lvl="0" algn="ctr" defTabSz="914400" rtl="0" eaLnBrk="1" latinLnBrk="0" hangingPunct="1">
              <a:spcBef>
                <a:spcPts val="0"/>
              </a:spcBef>
              <a:spcAft>
                <a:spcPts val="0"/>
              </a:spcAft>
              <a:buSzPts val="2400"/>
              <a:buNone/>
              <a:defRPr sz="3200" kern="1200">
                <a:solidFill>
                  <a:schemeClr val="tx1"/>
                </a:solidFill>
                <a:latin typeface="+mj-lt"/>
                <a:ea typeface="+mj-ea"/>
                <a:cs typeface="+mj-cs"/>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ltLang="ja-JP" sz="11200" b="1" dirty="0">
                <a:solidFill>
                  <a:srgbClr val="002060"/>
                </a:solidFill>
                <a:latin typeface="Times New Roman" pitchFamily="18" charset="0"/>
                <a:ea typeface="MS PGothic" pitchFamily="34" charset="-128"/>
              </a:rPr>
              <a:t>SPARK EXPO-2026</a:t>
            </a:r>
          </a:p>
          <a:p>
            <a:r>
              <a:rPr lang="en-US" altLang="ja-JP" sz="6700" b="1" dirty="0">
                <a:solidFill>
                  <a:srgbClr val="002060"/>
                </a:solidFill>
                <a:latin typeface="Times New Roman" pitchFamily="18" charset="0"/>
                <a:ea typeface="MS PGothic" pitchFamily="34" charset="-128"/>
              </a:rPr>
              <a:t> </a:t>
            </a:r>
          </a:p>
          <a:p>
            <a:endParaRPr lang="en-US" altLang="ja-JP" sz="2700" b="1" dirty="0">
              <a:solidFill>
                <a:srgbClr val="CC66FF"/>
              </a:solidFill>
              <a:latin typeface="Times New Roman" pitchFamily="18" charset="0"/>
              <a:ea typeface="MS PGothic" pitchFamily="34" charset="-128"/>
            </a:endParaRPr>
          </a:p>
          <a:p>
            <a:endParaRPr lang="en-US" altLang="ja-JP" sz="2700" b="1" dirty="0">
              <a:solidFill>
                <a:srgbClr val="CC66FF"/>
              </a:solidFill>
              <a:latin typeface="Times New Roman" pitchFamily="18" charset="0"/>
              <a:ea typeface="MS PGothic" pitchFamily="34" charset="-128"/>
            </a:endParaRPr>
          </a:p>
          <a:p>
            <a:endParaRPr lang="en-US" altLang="ja-JP" sz="2700" b="1" dirty="0">
              <a:solidFill>
                <a:srgbClr val="CC66FF"/>
              </a:solidFill>
              <a:latin typeface="Times New Roman" pitchFamily="18" charset="0"/>
              <a:ea typeface="MS PGothic" pitchFamily="34" charset="-128"/>
            </a:endParaRPr>
          </a:p>
          <a:p>
            <a:endParaRPr lang="en-US" altLang="ja-JP" sz="2700" b="1" dirty="0">
              <a:solidFill>
                <a:srgbClr val="CC66FF"/>
              </a:solidFill>
              <a:latin typeface="Times New Roman" pitchFamily="18" charset="0"/>
              <a:ea typeface="MS PGothic" pitchFamily="34" charset="-128"/>
            </a:endParaRPr>
          </a:p>
          <a:p>
            <a:endParaRPr lang="en-US" altLang="ja-JP" sz="2700" b="1" dirty="0">
              <a:solidFill>
                <a:srgbClr val="CC66FF"/>
              </a:solidFill>
              <a:latin typeface="Times New Roman" pitchFamily="18" charset="0"/>
              <a:ea typeface="MS PGothic" pitchFamily="34" charset="-128"/>
            </a:endParaRPr>
          </a:p>
          <a:p>
            <a:br>
              <a:rPr lang="en-US" altLang="ja-JP" sz="4400" b="1" dirty="0">
                <a:solidFill>
                  <a:srgbClr val="CC66FF"/>
                </a:solidFill>
                <a:latin typeface="Times New Roman" pitchFamily="18" charset="0"/>
                <a:ea typeface="MS PGothic" pitchFamily="34" charset="-128"/>
              </a:rPr>
            </a:br>
            <a:r>
              <a:rPr lang="en-IN" sz="9600" b="1" dirty="0">
                <a:solidFill>
                  <a:srgbClr val="FF0000"/>
                </a:solidFill>
                <a:latin typeface="Times New Roman" panose="02020603050405020304" pitchFamily="18" charset="0"/>
                <a:cs typeface="Times New Roman" panose="02020603050405020304" pitchFamily="18" charset="0"/>
              </a:rPr>
              <a:t>E-COMMERCE SALES &amp; CUSTOMER ANALYSIS USING MYSQL  AND  POWER BI</a:t>
            </a:r>
            <a:endParaRPr lang="en-US" altLang="ja-JP" sz="9600" b="1" dirty="0">
              <a:solidFill>
                <a:srgbClr val="FF0000"/>
              </a:solidFill>
              <a:latin typeface="Times New Roman" panose="02020603050405020304" pitchFamily="18" charset="0"/>
              <a:ea typeface="MS PGothic" pitchFamily="34" charset="-128"/>
              <a:cs typeface="Times New Roman" panose="02020603050405020304" pitchFamily="18" charset="0"/>
            </a:endParaRPr>
          </a:p>
          <a:p>
            <a:endParaRPr lang="en-US" altLang="ja-JP" sz="4000" b="1" dirty="0">
              <a:solidFill>
                <a:srgbClr val="C00000"/>
              </a:solidFill>
              <a:latin typeface="Times New Roman" panose="02020603050405020304" pitchFamily="18" charset="0"/>
              <a:ea typeface="MS PGothic" pitchFamily="34" charset="-128"/>
              <a:cs typeface="Times New Roman" panose="02020603050405020304" pitchFamily="18" charset="0"/>
            </a:endParaRPr>
          </a:p>
          <a:p>
            <a:endParaRPr lang="en-US" sz="4000" b="1" dirty="0">
              <a:solidFill>
                <a:schemeClr val="tx1">
                  <a:lumMod val="85000"/>
                  <a:lumOff val="15000"/>
                </a:schemeClr>
              </a:solidFill>
              <a:latin typeface="Times New Roman" pitchFamily="18" charset="0"/>
              <a:ea typeface="MS PGothic" pitchFamily="34" charset="-128"/>
            </a:endParaRPr>
          </a:p>
        </p:txBody>
      </p:sp>
      <p:sp>
        <p:nvSpPr>
          <p:cNvPr id="24578" name="AutoShape 2" descr="Best MCA College in Mumbai | TIMSCDR Mumbai"/>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2" name="Picture 1" descr="TKR COLLEGE OF ENGINEERING AND TECHNOLOGY-K9 (@tkrcet.k9 ...">
            <a:extLst>
              <a:ext uri="{FF2B5EF4-FFF2-40B4-BE49-F238E27FC236}">
                <a16:creationId xmlns:a16="http://schemas.microsoft.com/office/drawing/2014/main" id="{385739FA-75E5-FFCB-6E79-9C6CADEBD945}"/>
              </a:ext>
            </a:extLst>
          </p:cNvPr>
          <p:cNvPicPr>
            <a:picLocks noChangeAspect="1"/>
          </p:cNvPicPr>
          <p:nvPr/>
        </p:nvPicPr>
        <p:blipFill>
          <a:blip r:embed="rId2"/>
          <a:stretch>
            <a:fillRect/>
          </a:stretch>
        </p:blipFill>
        <p:spPr>
          <a:xfrm>
            <a:off x="337479" y="179117"/>
            <a:ext cx="1934470" cy="1934470"/>
          </a:xfrm>
          <a:prstGeom prst="rect">
            <a:avLst/>
          </a:prstGeom>
        </p:spPr>
      </p:pic>
    </p:spTree>
    <p:extLst>
      <p:ext uri="{BB962C8B-B14F-4D97-AF65-F5344CB8AC3E}">
        <p14:creationId xmlns:p14="http://schemas.microsoft.com/office/powerpoint/2010/main" val="3551523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F12C3-251D-4C87-84AC-A7E0633777C3}"/>
              </a:ext>
            </a:extLst>
          </p:cNvPr>
          <p:cNvSpPr>
            <a:spLocks noGrp="1"/>
          </p:cNvSpPr>
          <p:nvPr>
            <p:ph type="title"/>
          </p:nvPr>
        </p:nvSpPr>
        <p:spPr>
          <a:xfrm>
            <a:off x="838200" y="262489"/>
            <a:ext cx="10515600" cy="810531"/>
          </a:xfrm>
        </p:spPr>
        <p:txBody>
          <a:bodyPr/>
          <a:lstStyle/>
          <a:p>
            <a:pPr algn="ctr"/>
            <a:r>
              <a:rPr lang="en-IN" b="1" dirty="0">
                <a:latin typeface="Times New Roman" panose="02020603050405020304" pitchFamily="18" charset="0"/>
                <a:cs typeface="Times New Roman" panose="02020603050405020304" pitchFamily="18" charset="0"/>
              </a:rPr>
              <a:t>Overview</a:t>
            </a:r>
          </a:p>
        </p:txBody>
      </p:sp>
      <p:sp>
        <p:nvSpPr>
          <p:cNvPr id="3" name="Content Placeholder 2">
            <a:extLst>
              <a:ext uri="{FF2B5EF4-FFF2-40B4-BE49-F238E27FC236}">
                <a16:creationId xmlns:a16="http://schemas.microsoft.com/office/drawing/2014/main" id="{4B50C4F6-5EAA-4F67-BDCD-CF1C1C02AE34}"/>
              </a:ext>
            </a:extLst>
          </p:cNvPr>
          <p:cNvSpPr>
            <a:spLocks noGrp="1"/>
          </p:cNvSpPr>
          <p:nvPr>
            <p:ph idx="1"/>
          </p:nvPr>
        </p:nvSpPr>
        <p:spPr>
          <a:xfrm>
            <a:off x="950167" y="1289473"/>
            <a:ext cx="10515600" cy="4906054"/>
          </a:xfrm>
        </p:spPr>
        <p:txBody>
          <a:bodyPr>
            <a:noAutofit/>
          </a:bodyPr>
          <a:lstStyle/>
          <a:p>
            <a:r>
              <a:rPr lang="en-IN" sz="2400" dirty="0">
                <a:latin typeface="Times New Roman" panose="02020603050405020304" pitchFamily="18" charset="0"/>
                <a:cs typeface="Times New Roman" panose="02020603050405020304" pitchFamily="18" charset="0"/>
              </a:rPr>
              <a:t>Abstract</a:t>
            </a:r>
          </a:p>
          <a:p>
            <a:r>
              <a:rPr lang="en-IN" sz="2400" dirty="0">
                <a:latin typeface="Times New Roman" panose="02020603050405020304" pitchFamily="18" charset="0"/>
                <a:cs typeface="Times New Roman" panose="02020603050405020304" pitchFamily="18" charset="0"/>
              </a:rPr>
              <a:t>Introduction</a:t>
            </a:r>
          </a:p>
          <a:p>
            <a:r>
              <a:rPr lang="en-IN" sz="2400" dirty="0">
                <a:latin typeface="Times New Roman" panose="02020603050405020304" pitchFamily="18" charset="0"/>
                <a:cs typeface="Times New Roman" panose="02020603050405020304" pitchFamily="18" charset="0"/>
              </a:rPr>
              <a:t>Problem</a:t>
            </a:r>
          </a:p>
          <a:p>
            <a:r>
              <a:rPr lang="en-IN" sz="2400" dirty="0">
                <a:latin typeface="Times New Roman" panose="02020603050405020304" pitchFamily="18" charset="0"/>
                <a:cs typeface="Times New Roman" panose="02020603050405020304" pitchFamily="18" charset="0"/>
              </a:rPr>
              <a:t>Scope &amp; Objective of  Project</a:t>
            </a:r>
          </a:p>
          <a:p>
            <a:r>
              <a:rPr lang="en-IN" sz="2400" dirty="0">
                <a:latin typeface="Times New Roman" panose="02020603050405020304" pitchFamily="18" charset="0"/>
                <a:cs typeface="Times New Roman" panose="02020603050405020304" pitchFamily="18" charset="0"/>
              </a:rPr>
              <a:t>Hardware &amp; Software requirements</a:t>
            </a:r>
          </a:p>
          <a:p>
            <a:r>
              <a:rPr lang="en-IN" sz="2400" dirty="0">
                <a:latin typeface="Times New Roman" panose="02020603050405020304" pitchFamily="18" charset="0"/>
                <a:cs typeface="Times New Roman" panose="02020603050405020304" pitchFamily="18" charset="0"/>
              </a:rPr>
              <a:t>Project workflow</a:t>
            </a:r>
          </a:p>
          <a:p>
            <a:r>
              <a:rPr lang="en-IN" sz="2400" dirty="0">
                <a:latin typeface="Times New Roman" panose="02020603050405020304" pitchFamily="18" charset="0"/>
                <a:cs typeface="Times New Roman" panose="02020603050405020304" pitchFamily="18" charset="0"/>
              </a:rPr>
              <a:t>Database Tables</a:t>
            </a:r>
          </a:p>
          <a:p>
            <a:r>
              <a:rPr lang="en-IN" sz="2400" dirty="0">
                <a:latin typeface="Times New Roman" panose="02020603050405020304" pitchFamily="18" charset="0"/>
                <a:cs typeface="Times New Roman" panose="02020603050405020304" pitchFamily="18" charset="0"/>
              </a:rPr>
              <a:t>Dashboard</a:t>
            </a:r>
          </a:p>
          <a:p>
            <a:r>
              <a:rPr lang="en-IN" sz="2400" dirty="0">
                <a:latin typeface="Times New Roman" panose="02020603050405020304" pitchFamily="18" charset="0"/>
                <a:cs typeface="Times New Roman" panose="02020603050405020304" pitchFamily="18" charset="0"/>
              </a:rPr>
              <a:t>Conclusion</a:t>
            </a:r>
          </a:p>
          <a:p>
            <a:r>
              <a:rPr lang="en-IN" sz="2400" dirty="0">
                <a:latin typeface="Times New Roman" panose="02020603050405020304" pitchFamily="18" charset="0"/>
                <a:cs typeface="Times New Roman" panose="02020603050405020304" pitchFamily="18" charset="0"/>
              </a:rPr>
              <a:t>References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6597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2932E-C105-4CC2-8A3E-4587B4304445}"/>
              </a:ext>
            </a:extLst>
          </p:cNvPr>
          <p:cNvSpPr>
            <a:spLocks noGrp="1"/>
          </p:cNvSpPr>
          <p:nvPr>
            <p:ph type="title"/>
          </p:nvPr>
        </p:nvSpPr>
        <p:spPr>
          <a:xfrm>
            <a:off x="838199" y="365125"/>
            <a:ext cx="10670931" cy="1495670"/>
          </a:xfrm>
        </p:spPr>
        <p:txBody>
          <a:bodyPr>
            <a:normAutofit/>
          </a:bodyPr>
          <a:lstStyle/>
          <a:p>
            <a:pPr algn="ctr"/>
            <a:r>
              <a:rPr lang="en-IN" sz="2800" b="1" dirty="0">
                <a:latin typeface="Times New Roman" panose="02020603050405020304" pitchFamily="18" charset="0"/>
                <a:cs typeface="Times New Roman" panose="02020603050405020304" pitchFamily="18" charset="0"/>
              </a:rPr>
              <a:t>ABSTRACT</a:t>
            </a:r>
            <a:endParaRPr lang="en-IN" sz="2800" dirty="0"/>
          </a:p>
        </p:txBody>
      </p:sp>
      <p:sp>
        <p:nvSpPr>
          <p:cNvPr id="7" name="Content Placeholder 6">
            <a:extLst>
              <a:ext uri="{FF2B5EF4-FFF2-40B4-BE49-F238E27FC236}">
                <a16:creationId xmlns:a16="http://schemas.microsoft.com/office/drawing/2014/main" id="{60113CD6-9A7B-43E3-990B-A55CEDB6DFD3}"/>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This project presents a comprehensive E-Commerce Sales and Customer Analysis solution leveraging MySQL for robust data management and Power BI for interactive business intelligence and visualization. The primary objective was to transform raw transactional data into actionable insights to optimize sales performance, enhance customer segmentation, and improve overall business decision-making in a competitive e-commerce environment.</a:t>
            </a:r>
            <a:r>
              <a:rPr lang="en-IN" sz="2000" dirty="0"/>
              <a:t> </a:t>
            </a:r>
            <a:r>
              <a:rPr lang="en-IN" sz="2000" dirty="0">
                <a:latin typeface="Times New Roman" panose="02020603050405020304" pitchFamily="18" charset="0"/>
                <a:cs typeface="Times New Roman" panose="02020603050405020304" pitchFamily="18" charset="0"/>
              </a:rPr>
              <a:t>Data from multiple sources—including orders, customers, products, and returns—was ingested and stored in a well-normalized MySQL relational database. Complex SQL queries were developed to clean the data, handle missing values, calculate key performance indicators (KPIs) such as Revenue, Average Order Value (AOV), Customer Lifetime Value (CLV), and Retention Rate, and perform advanced analytics including RFM (Recency, Frequency, Monetary) segmentation and cohort analysis.</a:t>
            </a:r>
          </a:p>
          <a:p>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Keywords:  E-Commerce Analytics, Sales Analysis, Customer Segmentation, MySQL, Power BI,                   RFM Analysis, Business Intelligence.</a:t>
            </a:r>
          </a:p>
          <a:p>
            <a:pPr algn="just"/>
            <a:endParaRPr lang="en-IN" sz="2000" dirty="0"/>
          </a:p>
        </p:txBody>
      </p:sp>
    </p:spTree>
    <p:extLst>
      <p:ext uri="{BB962C8B-B14F-4D97-AF65-F5344CB8AC3E}">
        <p14:creationId xmlns:p14="http://schemas.microsoft.com/office/powerpoint/2010/main" val="1417547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FB9F7-5469-48D5-ACFE-9857E0773CF3}"/>
              </a:ext>
            </a:extLst>
          </p:cNvPr>
          <p:cNvSpPr>
            <a:spLocks noGrp="1"/>
          </p:cNvSpPr>
          <p:nvPr>
            <p:ph type="title"/>
          </p:nvPr>
        </p:nvSpPr>
        <p:spPr>
          <a:xfrm>
            <a:off x="916021" y="0"/>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Introduction-EXISTING SYSTEM</a:t>
            </a:r>
            <a:endParaRPr lang="en-IN" sz="28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6A40E7D-E64A-49A1-9116-A74A125DDBF2}"/>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This project, E-Commerce Sales and Customer Analysis using MySQL and Power BI, aims to build a complete data analytics solution that enables stakeholders to understand key business metrics, identify trends, segment customers effectively, and make informed strategic decisions. The rapid growth of e-commerce has transformed the global retail landscape, generating massive volumes of transactional data every day. In today’s highly competitive digital marketplace, businesses must move beyond traditional reporting to gain deep, actionable insights into sales performance and customer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Effective analysis of this data is critical for optimizing marketing strategies, improving customer retention, managing inventory efficiently, and driving sustainable revenue growth.</a:t>
            </a:r>
          </a:p>
          <a:p>
            <a:pPr marL="0" indent="0">
              <a:buNone/>
            </a:pPr>
            <a:r>
              <a:rPr lang="en-IN" sz="2000" dirty="0">
                <a:latin typeface="Times New Roman" panose="02020603050405020304" pitchFamily="18" charset="0"/>
                <a:cs typeface="Times New Roman" panose="02020603050405020304" pitchFamily="18" charset="0"/>
              </a:rPr>
              <a:t>DRAWBACKS:-</a:t>
            </a:r>
          </a:p>
          <a:p>
            <a:r>
              <a:rPr lang="en-IN" sz="2000" dirty="0">
                <a:latin typeface="Times New Roman" panose="02020603050405020304" pitchFamily="18" charset="0"/>
                <a:cs typeface="Times New Roman" panose="02020603050405020304" pitchFamily="18" charset="0"/>
              </a:rPr>
              <a:t>Data Quality and Completeness</a:t>
            </a:r>
          </a:p>
          <a:p>
            <a:r>
              <a:rPr lang="en-IN" sz="2000" dirty="0">
                <a:latin typeface="Times New Roman" panose="02020603050405020304" pitchFamily="18" charset="0"/>
                <a:cs typeface="Times New Roman" panose="02020603050405020304" pitchFamily="18" charset="0"/>
              </a:rPr>
              <a:t>Limited Dataset Scope</a:t>
            </a:r>
            <a:endParaRPr lang="en-I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634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6FFDA64-9687-4738-8E2B-AF889C9F2ED4}"/>
              </a:ext>
            </a:extLst>
          </p:cNvPr>
          <p:cNvSpPr>
            <a:spLocks noGrp="1"/>
          </p:cNvSpPr>
          <p:nvPr>
            <p:ph type="title"/>
          </p:nvPr>
        </p:nvSpPr>
        <p:spPr>
          <a:xfrm>
            <a:off x="838199" y="365125"/>
            <a:ext cx="10670931" cy="894508"/>
          </a:xfrm>
        </p:spPr>
        <p:txBody>
          <a:bodyPr>
            <a:normAutofit/>
          </a:bodyPr>
          <a:lstStyle/>
          <a:p>
            <a:pPr algn="ctr"/>
            <a:r>
              <a:rPr lang="en-US" sz="3200" dirty="0">
                <a:latin typeface="Times New Roman" panose="02020603050405020304" pitchFamily="18" charset="0"/>
                <a:cs typeface="Times New Roman" panose="02020603050405020304" pitchFamily="18" charset="0"/>
              </a:rPr>
              <a:t>PROBLEM STATEMENTS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89495E-C009-4E89-BB1E-65807BE6D98D}"/>
              </a:ext>
            </a:extLst>
          </p:cNvPr>
          <p:cNvSpPr>
            <a:spLocks noGrp="1"/>
          </p:cNvSpPr>
          <p:nvPr>
            <p:ph idx="1"/>
          </p:nvPr>
        </p:nvSpPr>
        <p:spPr>
          <a:xfrm>
            <a:off x="915864" y="1764977"/>
            <a:ext cx="10515600" cy="4351338"/>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Organizations require data-driven decision-making to remain competitive in today's digital marketplace. However, large volumes of transactional data often remain underutilized due to the lack of structured analysis and visualization. This project provides an end-to-end analytics solution by designing a relational database in MySQL, performing SQL-based business analysis, and developing interactive Power BI dashboards to enable strategic decision-making through actionable insights.</a:t>
            </a:r>
          </a:p>
        </p:txBody>
      </p:sp>
    </p:spTree>
    <p:extLst>
      <p:ext uri="{BB962C8B-B14F-4D97-AF65-F5344CB8AC3E}">
        <p14:creationId xmlns:p14="http://schemas.microsoft.com/office/powerpoint/2010/main" val="607154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B8822A-48C2-4B60-B35C-4934E685C171}"/>
              </a:ext>
            </a:extLst>
          </p:cNvPr>
          <p:cNvSpPr txBox="1"/>
          <p:nvPr/>
        </p:nvSpPr>
        <p:spPr>
          <a:xfrm>
            <a:off x="462319" y="943259"/>
            <a:ext cx="10442242" cy="5970865"/>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PROPOSED SYSTEM:</a:t>
            </a:r>
          </a:p>
          <a:p>
            <a:endParaRPr lang="en-IN" sz="2400" b="1" dirty="0">
              <a:latin typeface="Times New Roman" panose="02020603050405020304" pitchFamily="18" charset="0"/>
              <a:cs typeface="Times New Roman" panose="02020603050405020304" pitchFamily="18" charset="0"/>
            </a:endParaRPr>
          </a:p>
          <a:p>
            <a:pPr algn="just"/>
            <a:r>
              <a:rPr lang="en-IN" sz="2800" dirty="0">
                <a:latin typeface="Times New Roman" panose="02020603050405020304" pitchFamily="18" charset="0"/>
                <a:cs typeface="Times New Roman" panose="02020603050405020304" pitchFamily="18" charset="0"/>
              </a:rPr>
              <a:t>The proposed system is a comprehensive, end-to-end data analytics solution designed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e-commerce sales and customer </a:t>
            </a:r>
            <a:r>
              <a:rPr lang="en-IN" sz="2800" dirty="0" err="1">
                <a:latin typeface="Times New Roman" panose="02020603050405020304" pitchFamily="18" charset="0"/>
                <a:cs typeface="Times New Roman" panose="02020603050405020304" pitchFamily="18" charset="0"/>
              </a:rPr>
              <a:t>behavior</a:t>
            </a:r>
            <a:r>
              <a:rPr lang="en-IN" sz="2800" dirty="0">
                <a:latin typeface="Times New Roman" panose="02020603050405020304" pitchFamily="18" charset="0"/>
                <a:cs typeface="Times New Roman" panose="02020603050405020304" pitchFamily="18" charset="0"/>
              </a:rPr>
              <a:t> using MySQL as the backend database and Power BI as the visualization and business intelligence tool.</a:t>
            </a:r>
          </a:p>
          <a:p>
            <a:pPr algn="just"/>
            <a:endParaRPr lang="en-US" sz="2000" dirty="0">
              <a:latin typeface="Times New Roman" pitchFamily="18" charset="0"/>
              <a:cs typeface="Times New Roman" pitchFamily="18" charset="0"/>
            </a:endParaRPr>
          </a:p>
          <a:p>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ADVANTAGES</a:t>
            </a:r>
            <a:r>
              <a:rPr lang="en-US" sz="2000" dirty="0">
                <a:latin typeface="Times New Roman" pitchFamily="18" charset="0"/>
                <a:cs typeface="Times New Roman" pitchFamily="18" charset="0"/>
              </a:rPr>
              <a:t>:-</a:t>
            </a:r>
          </a:p>
          <a:p>
            <a:r>
              <a:rPr lang="en-IN" sz="2000" dirty="0">
                <a:latin typeface="Times New Roman" panose="02020603050405020304" pitchFamily="18" charset="0"/>
                <a:cs typeface="Times New Roman" panose="02020603050405020304" pitchFamily="18" charset="0"/>
              </a:rPr>
              <a:t>   Enhanced Customer Understanding,</a:t>
            </a:r>
            <a:r>
              <a:rPr lang="en-IN" sz="2000" dirty="0"/>
              <a:t> </a:t>
            </a:r>
          </a:p>
          <a:p>
            <a:r>
              <a:rPr lang="en-IN" sz="2000" dirty="0">
                <a:latin typeface="Times New Roman" panose="02020603050405020304" pitchFamily="18" charset="0"/>
                <a:cs typeface="Times New Roman" panose="02020603050405020304" pitchFamily="18" charset="0"/>
              </a:rPr>
              <a:t>   Improved Decision Making</a:t>
            </a:r>
          </a:p>
          <a:p>
            <a:r>
              <a:rPr lang="en-IN" sz="2000" dirty="0">
                <a:latin typeface="Times New Roman" panose="02020603050405020304" pitchFamily="18" charset="0"/>
                <a:cs typeface="Times New Roman" panose="02020603050405020304" pitchFamily="18" charset="0"/>
              </a:rPr>
              <a:t>   Cost-Effective Solution</a:t>
            </a:r>
          </a:p>
          <a:p>
            <a:r>
              <a:rPr lang="en-IN" sz="2000" dirty="0">
                <a:latin typeface="Times New Roman" panose="02020603050405020304" pitchFamily="18" charset="0"/>
                <a:cs typeface="Times New Roman" panose="02020603050405020304" pitchFamily="18" charset="0"/>
              </a:rPr>
              <a:t>   Increased Operational Efficiency</a:t>
            </a:r>
          </a:p>
          <a:p>
            <a:r>
              <a:rPr lang="en-IN" sz="2000" dirty="0">
                <a:latin typeface="Times New Roman" panose="02020603050405020304" pitchFamily="18" charset="0"/>
                <a:cs typeface="Times New Roman" panose="02020603050405020304" pitchFamily="18" charset="0"/>
              </a:rPr>
              <a:t>   Interactive and User-Friendly Visualization</a:t>
            </a:r>
          </a:p>
          <a:p>
            <a:r>
              <a:rPr lang="en-IN" sz="2000" dirty="0">
                <a:latin typeface="Times New Roman" panose="02020603050405020304" pitchFamily="18" charset="0"/>
                <a:cs typeface="Times New Roman" panose="02020603050405020304" pitchFamily="18" charset="0"/>
              </a:rPr>
              <a:t>   Time-Saving Automation</a:t>
            </a:r>
          </a:p>
          <a:p>
            <a:endParaRPr lang="en-IN" sz="2000" dirty="0"/>
          </a:p>
          <a:p>
            <a:endParaRPr lang="en-I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5869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5A3A-AA21-432A-B7CC-143FE26A6D75}"/>
              </a:ext>
            </a:extLst>
          </p:cNvPr>
          <p:cNvSpPr txBox="1">
            <a:spLocks/>
          </p:cNvSpPr>
          <p:nvPr/>
        </p:nvSpPr>
        <p:spPr>
          <a:xfrm>
            <a:off x="838199" y="-1"/>
            <a:ext cx="10670931" cy="54045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sz="2400" b="1" dirty="0">
              <a:latin typeface="Times New Roman" panose="02020603050405020304" pitchFamily="18" charset="0"/>
              <a:cs typeface="Times New Roman" panose="02020603050405020304" pitchFamily="18" charset="0"/>
            </a:endParaRPr>
          </a:p>
          <a:p>
            <a:pPr algn="ctr"/>
            <a:r>
              <a:rPr lang="en-IN" sz="3200" b="1" dirty="0">
                <a:latin typeface="Times New Roman" panose="02020603050405020304" pitchFamily="18" charset="0"/>
                <a:cs typeface="Times New Roman" panose="02020603050405020304" pitchFamily="18" charset="0"/>
              </a:rPr>
              <a:t>SCOPE &amp; OBJECTIVE OF PROJECT</a:t>
            </a:r>
          </a:p>
          <a:p>
            <a:pPr algn="ctr"/>
            <a:endParaRPr lang="en-IN" sz="32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For this project </a:t>
            </a:r>
            <a:r>
              <a:rPr lang="en-IN" sz="2800" dirty="0">
                <a:latin typeface="Times New Roman" panose="02020603050405020304" pitchFamily="18" charset="0"/>
                <a:cs typeface="Times New Roman" panose="02020603050405020304" pitchFamily="18" charset="0"/>
              </a:rPr>
              <a:t>To design and implement a relational database schema in MySQL for e-commerce sales and customer data</a:t>
            </a:r>
            <a:r>
              <a:rPr lang="en-US" sz="2800" dirty="0">
                <a:latin typeface="Times New Roman" panose="02020603050405020304" pitchFamily="18" charset="0"/>
                <a:cs typeface="Times New Roman" panose="02020603050405020304" pitchFamily="18" charset="0"/>
              </a:rPr>
              <a:t>,</a:t>
            </a:r>
            <a:r>
              <a:rPr lang="en-IN" sz="2800" dirty="0">
                <a:latin typeface="Times New Roman" panose="02020603050405020304" pitchFamily="18" charset="0"/>
                <a:cs typeface="Times New Roman" panose="02020603050405020304" pitchFamily="18" charset="0"/>
              </a:rPr>
              <a:t>To conduct customer segmentation using techniques like RFM analysis</a:t>
            </a:r>
            <a:r>
              <a:rPr lang="en-US" sz="2800" dirty="0">
                <a:latin typeface="Times New Roman" panose="02020603050405020304" pitchFamily="18" charset="0"/>
                <a:cs typeface="Times New Roman" panose="02020603050405020304" pitchFamily="18" charset="0"/>
              </a:rPr>
              <a:t>.</a:t>
            </a:r>
          </a:p>
          <a:p>
            <a:pPr marL="457200" indent="-457200" algn="ctr">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develop interactive and visually appealing dashboards in Power BI for real-time monitoring and decision support.</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To perform exploratory data analysis and calculate essential KPIs such as total revenue, average order value, customer lifetime value, and retention rates.</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822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BA060-896C-4958-9DDF-7A3BB9EE184D}"/>
              </a:ext>
            </a:extLst>
          </p:cNvPr>
          <p:cNvSpPr>
            <a:spLocks noGrp="1"/>
          </p:cNvSpPr>
          <p:nvPr>
            <p:ph type="title"/>
          </p:nvPr>
        </p:nvSpPr>
        <p:spPr>
          <a:xfrm>
            <a:off x="987879" y="299810"/>
            <a:ext cx="10515600" cy="1325563"/>
          </a:xfrm>
        </p:spPr>
        <p:txBody>
          <a:bodyPr>
            <a:normAutofit/>
          </a:bodyPr>
          <a:lstStyle/>
          <a:p>
            <a:r>
              <a:rPr lang="en-IN" sz="2600" b="1" dirty="0">
                <a:latin typeface="Times New Roman" pitchFamily="18" charset="0"/>
                <a:cs typeface="Times New Roman" pitchFamily="18" charset="0"/>
              </a:rPr>
              <a:t>Hardware </a:t>
            </a:r>
            <a:r>
              <a:rPr lang="en-IN" sz="2400" b="1" dirty="0">
                <a:latin typeface="Times New Roman" pitchFamily="18" charset="0"/>
                <a:cs typeface="Times New Roman" pitchFamily="18" charset="0"/>
              </a:rPr>
              <a:t>Requirements</a:t>
            </a:r>
            <a:br>
              <a:rPr lang="en-IN" sz="2400" b="1" dirty="0">
                <a:latin typeface="Times New Roman" pitchFamily="18" charset="0"/>
                <a:cs typeface="Times New Roman" pitchFamily="18" charset="0"/>
              </a:rPr>
            </a:br>
            <a:endParaRPr lang="en-IN" sz="24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4F719B6-6754-4F85-8E08-C903EB1A384E}"/>
              </a:ext>
            </a:extLst>
          </p:cNvPr>
          <p:cNvSpPr>
            <a:spLocks noGrp="1"/>
          </p:cNvSpPr>
          <p:nvPr>
            <p:ph idx="4294967295"/>
          </p:nvPr>
        </p:nvSpPr>
        <p:spPr>
          <a:xfrm>
            <a:off x="987425" y="1395413"/>
            <a:ext cx="11204575" cy="1771650"/>
          </a:xfrm>
        </p:spPr>
        <p:txBody>
          <a:bodyPr anchor="ctr">
            <a:normAutofit fontScale="92500" lnSpcReduction="10000"/>
          </a:bodyPr>
          <a:lstStyle/>
          <a:p>
            <a:r>
              <a:rPr lang="en-IN" dirty="0">
                <a:latin typeface="Times New Roman" pitchFamily="18" charset="0"/>
                <a:cs typeface="Times New Roman" pitchFamily="18" charset="0"/>
              </a:rPr>
              <a:t>  PROCESSOR     :  Intel Core i5 (8th Gen)</a:t>
            </a:r>
          </a:p>
          <a:p>
            <a:r>
              <a:rPr lang="en-IN" dirty="0">
                <a:latin typeface="Times New Roman" pitchFamily="18" charset="0"/>
                <a:cs typeface="Times New Roman" pitchFamily="18" charset="0"/>
              </a:rPr>
              <a:t>  RAM                  :  8GB RAM  </a:t>
            </a:r>
          </a:p>
          <a:p>
            <a:r>
              <a:rPr lang="en-IN" dirty="0">
                <a:latin typeface="Times New Roman" pitchFamily="18" charset="0"/>
                <a:cs typeface="Times New Roman" pitchFamily="18" charset="0"/>
              </a:rPr>
              <a:t>  HARD DISK       :  256 GB   </a:t>
            </a:r>
          </a:p>
          <a:p>
            <a:pPr marL="0" indent="0">
              <a:buNone/>
            </a:pPr>
            <a:r>
              <a:rPr lang="en-IN" dirty="0">
                <a:latin typeface="Times New Roman" pitchFamily="18" charset="0"/>
                <a:cs typeface="Times New Roman" pitchFamily="18" charset="0"/>
              </a:rPr>
              <a:t>  </a:t>
            </a:r>
          </a:p>
          <a:p>
            <a:pPr marL="0" indent="0">
              <a:buNone/>
            </a:pPr>
            <a:endParaRPr lang="en-IN" dirty="0">
              <a:latin typeface="Times New Roman" pitchFamily="18" charset="0"/>
              <a:cs typeface="Times New Roman" pitchFamily="18" charset="0"/>
            </a:endParaRPr>
          </a:p>
        </p:txBody>
      </p:sp>
      <p:sp>
        <p:nvSpPr>
          <p:cNvPr id="5" name="TextBox 4">
            <a:extLst>
              <a:ext uri="{FF2B5EF4-FFF2-40B4-BE49-F238E27FC236}">
                <a16:creationId xmlns:a16="http://schemas.microsoft.com/office/drawing/2014/main" id="{C84E18C0-AE05-43BA-94FF-08A727C71136}"/>
              </a:ext>
            </a:extLst>
          </p:cNvPr>
          <p:cNvSpPr txBox="1"/>
          <p:nvPr/>
        </p:nvSpPr>
        <p:spPr>
          <a:xfrm>
            <a:off x="906236" y="2608459"/>
            <a:ext cx="6368142" cy="492443"/>
          </a:xfrm>
          <a:prstGeom prst="rect">
            <a:avLst/>
          </a:prstGeom>
          <a:noFill/>
        </p:spPr>
        <p:txBody>
          <a:bodyPr wrap="square">
            <a:spAutoFit/>
          </a:bodyPr>
          <a:lstStyle/>
          <a:p>
            <a:r>
              <a:rPr lang="en-IN" sz="2400" b="1" dirty="0">
                <a:latin typeface="Times New Roman" pitchFamily="18" charset="0"/>
                <a:cs typeface="Times New Roman" pitchFamily="18" charset="0"/>
              </a:rPr>
              <a:t> </a:t>
            </a:r>
            <a:r>
              <a:rPr lang="en-IN" sz="2600" b="1" dirty="0">
                <a:latin typeface="Times New Roman" pitchFamily="18" charset="0"/>
                <a:cs typeface="Times New Roman" pitchFamily="18" charset="0"/>
              </a:rPr>
              <a:t>Software Requirements</a:t>
            </a:r>
            <a:endParaRPr lang="en-IN" sz="2600"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B7284F8E-0159-4163-9BE6-252FAC380390}"/>
              </a:ext>
            </a:extLst>
          </p:cNvPr>
          <p:cNvSpPr txBox="1"/>
          <p:nvPr/>
        </p:nvSpPr>
        <p:spPr>
          <a:xfrm>
            <a:off x="1072878" y="3167744"/>
            <a:ext cx="9757682" cy="1384995"/>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Times New Roman" pitchFamily="18" charset="0"/>
                <a:cs typeface="Times New Roman" pitchFamily="18" charset="0"/>
              </a:rPr>
              <a:t>OPERATING SYSTEMS                        : WINDOWS 10/11</a:t>
            </a:r>
          </a:p>
          <a:p>
            <a:pPr marL="457200" indent="-457200">
              <a:buFont typeface="Arial" panose="020B0604020202020204" pitchFamily="34" charset="0"/>
              <a:buChar char="•"/>
            </a:pPr>
            <a:r>
              <a:rPr lang="en-IN" sz="2800" dirty="0">
                <a:latin typeface="Times New Roman" pitchFamily="18" charset="0"/>
                <a:cs typeface="Times New Roman" pitchFamily="18" charset="0"/>
              </a:rPr>
              <a:t>Database Client                                        :  MySQL Workbench</a:t>
            </a:r>
          </a:p>
          <a:p>
            <a:pPr marL="457200" indent="-457200">
              <a:buFont typeface="Arial" panose="020B0604020202020204" pitchFamily="34" charset="0"/>
              <a:buChar char="•"/>
            </a:pPr>
            <a:r>
              <a:rPr lang="en-IN" sz="2800" dirty="0">
                <a:latin typeface="Times New Roman" pitchFamily="18" charset="0"/>
                <a:cs typeface="Times New Roman" pitchFamily="18" charset="0"/>
              </a:rPr>
              <a:t>PROGRAMMING LANGUAGE            : SQL</a:t>
            </a:r>
          </a:p>
        </p:txBody>
      </p:sp>
    </p:spTree>
    <p:extLst>
      <p:ext uri="{BB962C8B-B14F-4D97-AF65-F5344CB8AC3E}">
        <p14:creationId xmlns:p14="http://schemas.microsoft.com/office/powerpoint/2010/main" val="3080587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2680E-C002-4317-9F23-034E8037475F}"/>
              </a:ext>
            </a:extLst>
          </p:cNvPr>
          <p:cNvSpPr>
            <a:spLocks noGrp="1"/>
          </p:cNvSpPr>
          <p:nvPr>
            <p:ph type="title"/>
          </p:nvPr>
        </p:nvSpPr>
        <p:spPr/>
        <p:txBody>
          <a:bodyPr>
            <a:normAutofit/>
          </a:bodyPr>
          <a:lstStyle/>
          <a:p>
            <a:pPr algn="ctr"/>
            <a:r>
              <a:rPr lang="en-IN" sz="3200" dirty="0">
                <a:latin typeface="Times New Roman" panose="02020603050405020304" pitchFamily="18" charset="0"/>
                <a:cs typeface="Times New Roman" panose="02020603050405020304" pitchFamily="18" charset="0"/>
              </a:rPr>
              <a:t>PROJECT WORKFLOW</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5BD5C8B-F1B4-915F-5479-D55217A83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595" y="1408363"/>
            <a:ext cx="8672763" cy="4041274"/>
          </a:xfrm>
          <a:prstGeom prst="rect">
            <a:avLst/>
          </a:prstGeom>
        </p:spPr>
      </p:pic>
    </p:spTree>
    <p:extLst>
      <p:ext uri="{BB962C8B-B14F-4D97-AF65-F5344CB8AC3E}">
        <p14:creationId xmlns:p14="http://schemas.microsoft.com/office/powerpoint/2010/main" val="1533020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3A40-9E8A-4D3D-A900-9D0F7E979F63}"/>
              </a:ext>
            </a:extLst>
          </p:cNvPr>
          <p:cNvSpPr>
            <a:spLocks noGrp="1"/>
          </p:cNvSpPr>
          <p:nvPr>
            <p:ph type="title"/>
          </p:nvPr>
        </p:nvSpPr>
        <p:spPr>
          <a:xfrm>
            <a:off x="838200" y="397782"/>
            <a:ext cx="10515600" cy="1325563"/>
          </a:xfrm>
        </p:spPr>
        <p:txBody>
          <a:bodyPr>
            <a:normAutofit fontScale="90000"/>
          </a:bodyPr>
          <a:lstStyle/>
          <a:p>
            <a:pPr algn="ctr"/>
            <a:br>
              <a:rPr lang="en-IN" sz="3100" dirty="0">
                <a:latin typeface="Times New Roman" panose="02020603050405020304" pitchFamily="18" charset="0"/>
                <a:cs typeface="Times New Roman" panose="02020603050405020304" pitchFamily="18" charset="0"/>
              </a:rPr>
            </a:br>
            <a:r>
              <a:rPr lang="en-IN" sz="3100" dirty="0">
                <a:latin typeface="Times New Roman" panose="02020603050405020304" pitchFamily="18" charset="0"/>
                <a:cs typeface="Times New Roman" panose="02020603050405020304" pitchFamily="18" charset="0"/>
              </a:rPr>
              <a:t>DATABASE TABLES</a:t>
            </a:r>
            <a:br>
              <a:rPr lang="en-IN" sz="3100" dirty="0">
                <a:latin typeface="Times New Roman" panose="02020603050405020304" pitchFamily="18" charset="0"/>
                <a:cs typeface="Times New Roman" panose="02020603050405020304" pitchFamily="18" charset="0"/>
              </a:rPr>
            </a:br>
            <a:br>
              <a:rPr lang="en-IN" sz="3100" dirty="0">
                <a:latin typeface="Times New Roman" panose="02020603050405020304" pitchFamily="18" charset="0"/>
                <a:cs typeface="Times New Roman" panose="02020603050405020304" pitchFamily="18" charset="0"/>
              </a:rPr>
            </a:br>
            <a:endParaRPr lang="en-IN" sz="2200" dirty="0"/>
          </a:p>
        </p:txBody>
      </p:sp>
      <p:sp>
        <p:nvSpPr>
          <p:cNvPr id="5" name="Rectangle 4"/>
          <p:cNvSpPr/>
          <p:nvPr/>
        </p:nvSpPr>
        <p:spPr>
          <a:xfrm>
            <a:off x="1267487" y="1822120"/>
            <a:ext cx="6096000" cy="3539430"/>
          </a:xfrm>
          <a:prstGeom prst="rect">
            <a:avLst/>
          </a:prstGeom>
        </p:spPr>
        <p:txBody>
          <a:bodyPr>
            <a:spAutoFit/>
          </a:bodyPr>
          <a:lstStyle/>
          <a:p>
            <a:r>
              <a:rPr lang="en-IN" sz="3200" dirty="0">
                <a:latin typeface="Times New Roman" pitchFamily="18" charset="0"/>
                <a:cs typeface="Times New Roman" pitchFamily="18" charset="0"/>
              </a:rPr>
              <a:t>Customer  Table</a:t>
            </a:r>
          </a:p>
          <a:p>
            <a:br>
              <a:rPr lang="en-IN" sz="3200" dirty="0">
                <a:latin typeface="Times New Roman" pitchFamily="18" charset="0"/>
                <a:cs typeface="Times New Roman" pitchFamily="18" charset="0"/>
              </a:rPr>
            </a:br>
            <a:r>
              <a:rPr lang="en-IN" sz="3200" dirty="0">
                <a:latin typeface="Times New Roman" pitchFamily="18" charset="0"/>
                <a:cs typeface="Times New Roman" pitchFamily="18" charset="0"/>
              </a:rPr>
              <a:t> Product Table</a:t>
            </a:r>
          </a:p>
          <a:p>
            <a:br>
              <a:rPr lang="en-IN" sz="3200" dirty="0">
                <a:latin typeface="Times New Roman" pitchFamily="18" charset="0"/>
                <a:cs typeface="Times New Roman" pitchFamily="18" charset="0"/>
              </a:rPr>
            </a:br>
            <a:r>
              <a:rPr lang="en-IN" sz="3200" dirty="0">
                <a:latin typeface="Times New Roman" pitchFamily="18" charset="0"/>
                <a:cs typeface="Times New Roman" pitchFamily="18" charset="0"/>
              </a:rPr>
              <a:t> Orders Table</a:t>
            </a:r>
          </a:p>
          <a:p>
            <a:endParaRPr lang="en-IN" sz="3200" dirty="0">
              <a:latin typeface="Times New Roman" pitchFamily="18" charset="0"/>
              <a:cs typeface="Times New Roman" pitchFamily="18" charset="0"/>
            </a:endParaRPr>
          </a:p>
          <a:p>
            <a:r>
              <a:rPr lang="en-IN" sz="3200" dirty="0">
                <a:latin typeface="Times New Roman" pitchFamily="18" charset="0"/>
                <a:cs typeface="Times New Roman" pitchFamily="18" charset="0"/>
              </a:rPr>
              <a:t>Ordered item Table </a:t>
            </a:r>
            <a:endParaRPr lang="en-GB" sz="3200" dirty="0">
              <a:latin typeface="Times New Roman" pitchFamily="18" charset="0"/>
              <a:cs typeface="Times New Roman" pitchFamily="18" charset="0"/>
            </a:endParaRPr>
          </a:p>
        </p:txBody>
      </p:sp>
    </p:spTree>
    <p:extLst>
      <p:ext uri="{BB962C8B-B14F-4D97-AF65-F5344CB8AC3E}">
        <p14:creationId xmlns:p14="http://schemas.microsoft.com/office/powerpoint/2010/main" val="1926749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FA62196-F6B0-C4B0-E157-B8F543F1692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DASHBOARD</a:t>
            </a:r>
            <a:endParaRPr lang="en-IN"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3DBA4F24-4530-C234-9238-609354050BC9}"/>
              </a:ext>
            </a:extLst>
          </p:cNvPr>
          <p:cNvPicPr>
            <a:picLocks noGrp="1" noChangeAspect="1"/>
          </p:cNvPicPr>
          <p:nvPr>
            <p:ph idx="1"/>
          </p:nvPr>
        </p:nvPicPr>
        <p:blipFill>
          <a:blip r:embed="rId2"/>
          <a:stretch>
            <a:fillRect/>
          </a:stretch>
        </p:blipFill>
        <p:spPr>
          <a:xfrm>
            <a:off x="2622327" y="1825625"/>
            <a:ext cx="6947345" cy="4351338"/>
          </a:xfrm>
          <a:prstGeom prst="rect">
            <a:avLst/>
          </a:prstGeom>
        </p:spPr>
      </p:pic>
    </p:spTree>
    <p:extLst>
      <p:ext uri="{BB962C8B-B14F-4D97-AF65-F5344CB8AC3E}">
        <p14:creationId xmlns:p14="http://schemas.microsoft.com/office/powerpoint/2010/main" val="1316613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BFB78D6-4121-6E2B-4ACF-746564CF22F4}"/>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The E-Commerce Sales and Customer Analysis using MySQL and Power BI project successfully demonstrates how effective data management and visualization tools can transform raw transactional data into valuable business insights.</a:t>
            </a:r>
          </a:p>
          <a:p>
            <a:r>
              <a:rPr lang="en-IN" dirty="0">
                <a:latin typeface="Times New Roman" panose="02020603050405020304" pitchFamily="18" charset="0"/>
                <a:cs typeface="Times New Roman" panose="02020603050405020304" pitchFamily="18" charset="0"/>
              </a:rPr>
              <a:t>The E-Commerce Sales and Customer Analysis using MySQL and Power BI project successfully demonstrates how effective data management and visualization tools can transform raw transactional data into valuable business insights.</a:t>
            </a:r>
          </a:p>
          <a:p>
            <a:pPr marL="0" indent="0">
              <a:buNone/>
            </a:pP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7C40406D-5AC8-870D-9F79-AF26AF2B85D4}"/>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Integration of Machine Learning models for sales forecasting and customer churn prediction.</a:t>
            </a:r>
          </a:p>
          <a:p>
            <a:r>
              <a:rPr lang="en-IN" dirty="0">
                <a:latin typeface="Times New Roman" panose="02020603050405020304" pitchFamily="18" charset="0"/>
                <a:cs typeface="Times New Roman" panose="02020603050405020304" pitchFamily="18" charset="0"/>
              </a:rPr>
              <a:t>Implementation of real-time analytics using tools like Apache Kafka.</a:t>
            </a:r>
          </a:p>
          <a:p>
            <a:r>
              <a:rPr lang="en-IN" dirty="0">
                <a:latin typeface="Times New Roman" panose="02020603050405020304" pitchFamily="18" charset="0"/>
                <a:cs typeface="Times New Roman" panose="02020603050405020304" pitchFamily="18" charset="0"/>
              </a:rPr>
              <a:t>Migration to cloud platforms (AWS, Azure, or Google Cloud) for better scalability.</a:t>
            </a:r>
          </a:p>
          <a:p>
            <a:r>
              <a:rPr lang="en-IN" dirty="0">
                <a:latin typeface="Times New Roman" panose="02020603050405020304" pitchFamily="18" charset="0"/>
                <a:cs typeface="Times New Roman" panose="02020603050405020304" pitchFamily="18" charset="0"/>
              </a:rPr>
              <a:t>Development of a web-based dashboard using Power BI Service for wider accessibility.</a:t>
            </a:r>
          </a:p>
          <a:p>
            <a:pPr marL="0" indent="0">
              <a:buNone/>
            </a:pP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79F7D-38A3-4A9A-9F8C-3EAE8F0FB739}"/>
              </a:ext>
            </a:extLst>
          </p:cNvPr>
          <p:cNvSpPr>
            <a:spLocks noGrp="1"/>
          </p:cNvSpPr>
          <p:nvPr>
            <p:ph type="title"/>
          </p:nvPr>
        </p:nvSpPr>
        <p:spPr/>
        <p:txBody>
          <a:bodyPr>
            <a:noAutofit/>
          </a:bodyPr>
          <a:lstStyle/>
          <a:p>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REFERENCES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[1Chen, H., Chiang, R. H. L., &amp; Storey, V. C. (2012). Business Intelligence and Analytics: From Big Data to Big Impact. MIS Quarterly, 36(4), 1165–1188.</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[2] Verhoef, P. C., Kannan, P. K., &amp; Inman, J. J. (2015). From Multi-Channel Retailing to Omni-Channel Retailing. Journal of Retailing, 91(2), 174–181.</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[3Chaffey, D., &amp; Ellis-Chadwick, F. (2019). Digital Marketing: Strategy, Implementation and Practice (7th ed.). Pearson.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[4Marr, B. (2016). Big Data in Practice: How 45 Successful Companies Used Big Data Analytics to Deliver Extraordinary Results. Wiley.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[5] Power, D. J. (2016). Data Science: Supporting Decision Making. Journal of Decision Systems, 25(4), 345–356..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[6] Oracle Corporation. (2024). MySQL Performance Tuning Guide.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[7] Han, J., Kamber, M., &amp; Pei, J. (2012). Data Mining: Concepts and Techniques (3rd ed.). Morgan Kaufmann Publishers.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1676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26035-83C1-4585-9B75-43608F907E5A}"/>
              </a:ext>
            </a:extLst>
          </p:cNvPr>
          <p:cNvSpPr>
            <a:spLocks noGrp="1"/>
          </p:cNvSpPr>
          <p:nvPr>
            <p:ph type="title"/>
          </p:nvPr>
        </p:nvSpPr>
        <p:spPr>
          <a:xfrm>
            <a:off x="993648" y="2331085"/>
            <a:ext cx="10515600" cy="1325563"/>
          </a:xfrm>
        </p:spPr>
        <p:txBody>
          <a:bodyPr>
            <a:normAutofit/>
          </a:bodyPr>
          <a:lstStyle/>
          <a:p>
            <a:pPr algn="ctr"/>
            <a:r>
              <a:rPr lang="en-US" sz="8900" dirty="0">
                <a:latin typeface="Times New Roman" pitchFamily="18" charset="0"/>
                <a:cs typeface="Times New Roman" pitchFamily="18" charset="0"/>
              </a:rPr>
              <a:t>THANK YOU</a:t>
            </a:r>
            <a:endParaRPr lang="en-IN" sz="8900" dirty="0">
              <a:latin typeface="Times New Roman" pitchFamily="18" charset="0"/>
              <a:cs typeface="Times New Roman" pitchFamily="18" charset="0"/>
            </a:endParaRPr>
          </a:p>
        </p:txBody>
      </p:sp>
    </p:spTree>
    <p:extLst>
      <p:ext uri="{BB962C8B-B14F-4D97-AF65-F5344CB8AC3E}">
        <p14:creationId xmlns:p14="http://schemas.microsoft.com/office/powerpoint/2010/main" val="6857161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1092</TotalTime>
  <Words>1002</Words>
  <Application>Microsoft Office PowerPoint</Application>
  <PresentationFormat>Widescreen</PresentationFormat>
  <Paragraphs>91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Overview</vt:lpstr>
      <vt:lpstr>ABSTRACT</vt:lpstr>
      <vt:lpstr>Introduction-EXISTING SYSTEM</vt:lpstr>
      <vt:lpstr>PROBLEM STATEMENTS</vt:lpstr>
      <vt:lpstr>PowerPoint Presentation</vt:lpstr>
      <vt:lpstr>PowerPoint Presentation</vt:lpstr>
      <vt:lpstr>Hardware Requirements </vt:lpstr>
      <vt:lpstr>PROJECT WORKFLOW </vt:lpstr>
      <vt:lpstr> DATABASE TABLES  </vt:lpstr>
      <vt:lpstr>                       DASHBOARD</vt:lpstr>
      <vt:lpstr>CONCLUSION</vt:lpstr>
      <vt:lpstr>Future Scope</vt:lpstr>
      <vt:lpstr>               REFERENCES   [1Chen, H., Chiang, R. H. L., &amp; Storey, V. C. (2012). Business Intelligence and Analytics: From Big Data to Big Impact. MIS Quarterly, 36(4), 1165–1188.  [2] Verhoef, P. C., Kannan, P. K., &amp; Inman, J. J. (2015). From Multi-Channel Retailing to Omni-Channel Retailing. Journal of Retailing, 91(2), 174–181.  [3Chaffey, D., &amp; Ellis-Chadwick, F. (2019). Digital Marketing: Strategy, Implementation and Practice (7th ed.). Pearson.  [4Marr, B. (2016). Big Data in Practice: How 45 Successful Companies Used Big Data Analytics to Deliver Extraordinary Results. Wiley. [5] Power, D. J. (2016). Data Science: Supporting Decision Making. Journal of Decision Systems, 25(4), 345–356..  [6] Oracle Corporation. (2024). MySQL Performance Tuning Guide. [7] Han, J., Kamber, M., &amp; Pei, J. (2012). Data Mining: Concepts and Techniques (3rd ed.). Morgan Kaufmann Publishers.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Shivah Sae</dc:creator>
  <cp:lastModifiedBy>Durga Prasad Maddi</cp:lastModifiedBy>
  <cp:revision>59</cp:revision>
  <dcterms:created xsi:type="dcterms:W3CDTF">2021-02-21T08:37:01Z</dcterms:created>
  <dcterms:modified xsi:type="dcterms:W3CDTF">2026-06-29T11:40:18Z</dcterms:modified>
</cp:coreProperties>
</file>